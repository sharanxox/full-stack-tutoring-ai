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23"/>
    <p:sldId id="277" r:id="rId24"/>
    <p:sldId id="278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3AF58-7AA1-4AC1-B985-CD0160632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78E22-7B5C-48FB-9921-7A97359B5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B0C303-AFC7-4688-8161-17CE39D98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13AB0-1E19-4AB5-9256-AC3276BE973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8D7B8-D64B-4B8E-90B1-7D19DB302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1808E-04A4-4181-B041-C4DB463A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4CC-738A-49C6-AD86-3EB554604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722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362E2-4121-49C4-A122-F6A7252A5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EE60E-282F-463A-8396-5B322DAF2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3E5F4-0CD3-4D07-B7D7-60DCAE8CF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13AB0-1E19-4AB5-9256-AC3276BE973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9D2A0-F0AC-48B5-9D25-21C0E5DD0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5E5FDE-1206-4578-AEB4-CA2A9C846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4CC-738A-49C6-AD86-3EB554604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39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D2B5-E485-4635-BBDC-035E4FC55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257CBC-801B-4225-94B2-C41A14787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3160F-C2E8-4BA8-AB72-91CC9AF57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13AB0-1E19-4AB5-9256-AC3276BE973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6F1CD-C8FE-4D3D-BA29-20E7A1B1A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A9532-8D1B-478A-BD6E-FC0AC9517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4CC-738A-49C6-AD86-3EB554604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6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A436-2919-4A7D-8377-87BEADD97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0ECB4-DE9D-464E-979F-65FEC7DB1A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BE22A3-7C93-43A5-A130-73744D3A76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84FBA-3C07-4806-90AA-E0F5AE9E9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13AB0-1E19-4AB5-9256-AC3276BE973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956A4-5185-4704-9BDB-7654D8570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2DB30-AE29-4DD2-8612-1B7071E44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4CC-738A-49C6-AD86-3EB554604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015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4318E-167B-4272-B873-1C4509995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15E1E-A5B3-4E0D-B69B-E0CD6CC22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40C30-E100-43BE-BE69-BC02A6DA9B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DA6A30-5B2D-42CA-A705-E64030607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432898-6823-42B7-A63C-3F9CB1DF43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D2B466-3656-47E5-BDF1-AE948F1C9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13AB0-1E19-4AB5-9256-AC3276BE973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04A58D-C8D7-4803-A11B-BB12E3F66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2F6800-F476-4AAF-BC1F-306B9EAB8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4CC-738A-49C6-AD86-3EB554604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09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3786-5330-43FD-B0C3-69A86CCA2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13CC98-040C-4843-ADF7-3D691FE4A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13AB0-1E19-4AB5-9256-AC3276BE973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8DC872-0164-4C38-9400-607D953EE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01B402-3F93-4580-BD5C-CECEDA138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4CC-738A-49C6-AD86-3EB554604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885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453D2-36FC-4423-BCE2-4E6A79943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13AB0-1E19-4AB5-9256-AC3276BE973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7FEC38-A5E1-4FB8-9C4F-52950CAF5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0B82F-B70D-4E34-8683-38ADF107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4CC-738A-49C6-AD86-3EB554604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357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BFA38-DC44-485A-AAB9-DF320BC19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25FB0-C676-4D55-9889-C5F6DB14CC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23867-96BE-4941-9E08-93248FFF2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E5ACE3-2193-436F-B3FB-185882538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13AB0-1E19-4AB5-9256-AC3276BE973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DE9C3-E0A8-4D2A-BC1A-C8487905B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7E9FF-72CB-42DF-922D-F726B3A34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4CC-738A-49C6-AD86-3EB554604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007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F1007-1A83-4EA1-BAC1-12E75A003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600A7D-62B8-45B1-8C1F-3C7AA7E87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42E96E-A374-40DD-B9B0-3C852A9FF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91F7A-2132-42AB-A1AC-A4BDFE6E2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13AB0-1E19-4AB5-9256-AC3276BE973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43410-64AF-4F63-92CF-A5C8EA138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D04B8-5B1C-41B3-ACB0-897D6C9BE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4CC-738A-49C6-AD86-3EB554604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014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54C13-5B40-478F-BAB4-E6CB31A0E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79376-110F-4DBD-BF77-F31693B281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C0D86-8687-4DA7-8A09-9D9147865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13AB0-1E19-4AB5-9256-AC3276BE973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AA6502-F77A-4E49-AE90-C3FC8AC8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923E9-533B-4906-9C54-1F65D00A3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4CC-738A-49C6-AD86-3EB554604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7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ED982B-D4F0-4EF0-8266-8F319CDD00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F9EAFE-B183-4F31-AFEF-8CF062361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508C5-92B5-4E4A-B5FD-33E1B27D9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13AB0-1E19-4AB5-9256-AC3276BE973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B9725-91CE-41F8-A17D-9310F863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DA575-A67C-4286-A760-357A38824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D24CC-738A-49C6-AD86-3EB554604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56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E50920-D368-41C6-AAF4-E656D3752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BAC6D-AB92-4BF2-9B52-5FC3E25D3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6E4FA-F0CE-45D7-8A6E-F4ECA8DE25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13AB0-1E19-4AB5-9256-AC3276BE9730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16199-E999-4454-9644-1AA53D426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8358E-C833-46B0-B197-6D0D110C82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D24CC-738A-49C6-AD86-3EB554604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393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5E5B-5B1E-4A27-B13E-2F59FE6A60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615478-0C49-4214-A27B-F8634CE7E0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Module 5</a:t>
            </a:r>
          </a:p>
        </p:txBody>
      </p:sp>
    </p:spTree>
    <p:extLst>
      <p:ext uri="{BB962C8B-B14F-4D97-AF65-F5344CB8AC3E}">
        <p14:creationId xmlns:p14="http://schemas.microsoft.com/office/powerpoint/2010/main" val="2829283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12741-4C0A-4EA4-B717-995B9C45F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70B9B-FB72-4210-98CD-D5E0DC565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Building an ML pipeline for the real world: data collection, metrics, model building, model deployment, updating. Use cases from companies, Model interpretability and SHAP/feature importance. </a:t>
            </a:r>
          </a:p>
        </p:txBody>
      </p:sp>
    </p:spTree>
    <p:extLst>
      <p:ext uri="{BB962C8B-B14F-4D97-AF65-F5344CB8AC3E}">
        <p14:creationId xmlns:p14="http://schemas.microsoft.com/office/powerpoint/2010/main" val="752402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2EAED-4BB1-464A-A603-AB43DCE54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B30AB-60DC-41FB-BBE6-31A815378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collection is the phase where you gather the raw information your model will learn from.</a:t>
            </a:r>
          </a:p>
          <a:p>
            <a:r>
              <a:rPr lang="en-US" dirty="0"/>
              <a:t> In the real world, this doesn’t mean just “downloading a dataset.” </a:t>
            </a:r>
          </a:p>
          <a:p>
            <a:r>
              <a:rPr lang="en-US" dirty="0"/>
              <a:t>It’s about designing a strategy to ensure you get the right data, in the right format, with the right quality — and that the data continues to flow so your system stays relevant over time.</a:t>
            </a:r>
          </a:p>
        </p:txBody>
      </p:sp>
    </p:spTree>
    <p:extLst>
      <p:ext uri="{BB962C8B-B14F-4D97-AF65-F5344CB8AC3E}">
        <p14:creationId xmlns:p14="http://schemas.microsoft.com/office/powerpoint/2010/main" val="2607950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98FDC-74EB-49F7-B071-8B5813CBA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7CF50-B7B7-4A0A-8EC4-50B705A95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Define What Data You Need</a:t>
            </a:r>
          </a:p>
          <a:p>
            <a:r>
              <a:rPr lang="en-US" dirty="0"/>
              <a:t>Translate the ML problem into a </a:t>
            </a:r>
            <a:r>
              <a:rPr lang="en-US" b="1" dirty="0"/>
              <a:t>precise data specification</a:t>
            </a:r>
            <a:r>
              <a:rPr lang="en-US" dirty="0"/>
              <a:t> (features, labels, formats, minimum data size).</a:t>
            </a:r>
          </a:p>
          <a:p>
            <a:r>
              <a:rPr lang="en-US" dirty="0"/>
              <a:t>Identify </a:t>
            </a:r>
            <a:r>
              <a:rPr lang="en-US" b="1" dirty="0"/>
              <a:t>potential data sources</a:t>
            </a:r>
            <a:r>
              <a:rPr lang="en-US" dirty="0"/>
              <a:t>: databases, sensors, user interactions, APIs, logs, images, etc.</a:t>
            </a:r>
          </a:p>
          <a:p>
            <a:r>
              <a:rPr lang="en-US" dirty="0"/>
              <a:t>Evaluate each source for </a:t>
            </a:r>
            <a:r>
              <a:rPr lang="en-US" b="1" dirty="0"/>
              <a:t>accessibility, latency, cost, privacy constraints, and reliability</a:t>
            </a:r>
            <a:r>
              <a:rPr lang="en-US" dirty="0"/>
              <a:t>.</a:t>
            </a:r>
          </a:p>
          <a:p>
            <a:r>
              <a:rPr lang="en-US" dirty="0"/>
              <a:t>Create a </a:t>
            </a:r>
            <a:r>
              <a:rPr lang="en-US" b="1" dirty="0"/>
              <a:t>data schema + metadata plan</a:t>
            </a:r>
            <a:r>
              <a:rPr lang="en-US" dirty="0"/>
              <a:t> (timestamps, IDs, collection method, version) to maintain traceability and auditability.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211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ED5F6-87D1-46D4-B879-C4098E2DD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9317"/>
            <a:ext cx="10515600" cy="5487646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2. Design the Data Collection Pro</a:t>
            </a:r>
          </a:p>
          <a:p>
            <a:r>
              <a:rPr lang="en-US" dirty="0"/>
              <a:t>Implement </a:t>
            </a:r>
            <a:r>
              <a:rPr lang="en-US" b="1" dirty="0"/>
              <a:t>structured extraction jobs</a:t>
            </a:r>
            <a:r>
              <a:rPr lang="en-US" dirty="0"/>
              <a:t> (ETL pipelines, API calls, logging systems) with validation checks like:</a:t>
            </a:r>
          </a:p>
          <a:p>
            <a:r>
              <a:rPr lang="en-US" dirty="0"/>
              <a:t>Schema validation </a:t>
            </a:r>
          </a:p>
          <a:p>
            <a:pPr lvl="1"/>
            <a:r>
              <a:rPr lang="en-US" dirty="0"/>
              <a:t>All required columns exist</a:t>
            </a:r>
          </a:p>
          <a:p>
            <a:pPr lvl="1"/>
            <a:r>
              <a:rPr lang="en-US" dirty="0"/>
              <a:t>Each column has correct datatype (e.g., temperature is a number, not “hot/cold”)</a:t>
            </a:r>
          </a:p>
          <a:p>
            <a:pPr lvl="1"/>
            <a:r>
              <a:rPr lang="en-US" dirty="0"/>
              <a:t>No extra unexpected fields appear</a:t>
            </a:r>
          </a:p>
          <a:p>
            <a:pPr lvl="1"/>
            <a:r>
              <a:rPr lang="en-US" dirty="0"/>
              <a:t>💡 </a:t>
            </a:r>
            <a:r>
              <a:rPr lang="en-US" b="1" dirty="0"/>
              <a:t>It stops badly structured data from entering your system.</a:t>
            </a:r>
            <a:endParaRPr lang="en-US" dirty="0"/>
          </a:p>
          <a:p>
            <a:pPr lvl="1"/>
            <a:endParaRPr lang="en-US" dirty="0"/>
          </a:p>
          <a:p>
            <a:pPr marL="228600" lvl="1">
              <a:spcBef>
                <a:spcPts val="1000"/>
              </a:spcBef>
            </a:pPr>
            <a:r>
              <a:rPr lang="en-US" sz="2900" dirty="0"/>
              <a:t>Range/consistency checks: </a:t>
            </a:r>
            <a:r>
              <a:rPr lang="en-US" sz="3200" dirty="0"/>
              <a:t>These checks make sure values are </a:t>
            </a:r>
            <a:r>
              <a:rPr lang="en-US" sz="3200" b="1" dirty="0"/>
              <a:t>reasonable</a:t>
            </a:r>
            <a:r>
              <a:rPr lang="en-US" sz="3200" dirty="0"/>
              <a:t> and </a:t>
            </a:r>
            <a:r>
              <a:rPr lang="en-US" sz="3200" b="1" dirty="0"/>
              <a:t>internally consistent</a:t>
            </a:r>
            <a:r>
              <a:rPr lang="en-US" sz="3200" dirty="0"/>
              <a:t>.</a:t>
            </a:r>
            <a:endParaRPr lang="en-US" sz="2900" dirty="0"/>
          </a:p>
          <a:p>
            <a:pPr lvl="1"/>
            <a:r>
              <a:rPr lang="en-US" dirty="0"/>
              <a:t>Example checks:</a:t>
            </a:r>
          </a:p>
          <a:p>
            <a:pPr lvl="1"/>
            <a:r>
              <a:rPr lang="en-US" dirty="0"/>
              <a:t>Temperature must be between –50°C and +60°C</a:t>
            </a:r>
          </a:p>
          <a:p>
            <a:pPr lvl="1"/>
            <a:r>
              <a:rPr lang="en-US" dirty="0"/>
              <a:t>PM2.5 cannot be negative</a:t>
            </a:r>
          </a:p>
          <a:p>
            <a:pPr lvl="1"/>
            <a:r>
              <a:rPr lang="en-US" dirty="0"/>
              <a:t>Humidity cannot be more than 100%</a:t>
            </a:r>
          </a:p>
          <a:p>
            <a:pPr marL="228600" lvl="1">
              <a:spcBef>
                <a:spcPts val="1000"/>
              </a:spcBef>
            </a:pPr>
            <a:r>
              <a:rPr lang="en-US" sz="2900" dirty="0"/>
              <a:t>Missing-value thresholds: </a:t>
            </a:r>
            <a:r>
              <a:rPr lang="en-US" dirty="0"/>
              <a:t>You decide how much missing data is acceptable.</a:t>
            </a:r>
          </a:p>
          <a:p>
            <a:pPr lvl="1"/>
            <a:r>
              <a:rPr lang="en-US" dirty="0"/>
              <a:t>Example:</a:t>
            </a:r>
          </a:p>
          <a:p>
            <a:pPr lvl="1"/>
            <a:r>
              <a:rPr lang="en-US" dirty="0"/>
              <a:t>If only 1–2% values are missing → okay</a:t>
            </a:r>
          </a:p>
          <a:p>
            <a:pPr lvl="1"/>
            <a:r>
              <a:rPr lang="en-US" dirty="0"/>
              <a:t>If 40% of humidity values are missing → something is wrong with the sensor</a:t>
            </a:r>
          </a:p>
          <a:p>
            <a:pPr lvl="1"/>
            <a:r>
              <a:rPr lang="en-US" dirty="0"/>
              <a:t>If a whole column is empty → fail the job</a:t>
            </a:r>
          </a:p>
          <a:p>
            <a:pPr lvl="1"/>
            <a:r>
              <a:rPr lang="en-US" dirty="0"/>
              <a:t> </a:t>
            </a:r>
            <a:r>
              <a:rPr lang="en-US" b="1" dirty="0"/>
              <a:t>If too many values are missing, the system flags it instead of silently feeding broken data into your ML model.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852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AA778-A540-4826-A690-C749D0A06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4C939-6395-4898-B045-5F9C9F8AA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new data sources (e.g., app images, IoT sensors), define detailed instrumentation </a:t>
            </a:r>
            <a:r>
              <a:rPr lang="en-US" dirty="0" err="1"/>
              <a:t>specs:Image</a:t>
            </a:r>
            <a:r>
              <a:rPr lang="en-US" dirty="0"/>
              <a:t> resolution, format, lighting requirements</a:t>
            </a:r>
          </a:p>
          <a:p>
            <a:r>
              <a:rPr lang="en-US" dirty="0"/>
              <a:t>Sensor sampling rates, calibration procedures</a:t>
            </a:r>
          </a:p>
          <a:p>
            <a:r>
              <a:rPr lang="en-US" dirty="0"/>
              <a:t>User input prompts and constraints</a:t>
            </a:r>
          </a:p>
          <a:p>
            <a:r>
              <a:rPr lang="en-US" dirty="0"/>
              <a:t>Set up a system to quarantine or flag invalid or suspicious records instead of silently adding them to the dataset.</a:t>
            </a:r>
          </a:p>
          <a:p>
            <a:r>
              <a:rPr lang="en-US" dirty="0"/>
              <a:t>Plan storage strategy: Raw archive (immutable) for reproducibility</a:t>
            </a:r>
          </a:p>
          <a:p>
            <a:r>
              <a:rPr lang="en-US" dirty="0"/>
              <a:t>Processed store for training efficiency</a:t>
            </a:r>
          </a:p>
        </p:txBody>
      </p:sp>
    </p:spTree>
    <p:extLst>
      <p:ext uri="{BB962C8B-B14F-4D97-AF65-F5344CB8AC3E}">
        <p14:creationId xmlns:p14="http://schemas.microsoft.com/office/powerpoint/2010/main" val="32062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79AFA-1E49-47A5-98D2-6F1359CCD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08F61-E94A-4F65-9BE7-635868372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3. Labeling &amp; Annotation Strategy</a:t>
            </a:r>
          </a:p>
          <a:p>
            <a:r>
              <a:rPr lang="en-US" dirty="0"/>
              <a:t>Choose labeling approach depending on complexity:</a:t>
            </a:r>
          </a:p>
          <a:p>
            <a:pPr lvl="1"/>
            <a:r>
              <a:rPr lang="en-US" b="1" dirty="0"/>
              <a:t>Weak supervision/heuristics</a:t>
            </a:r>
            <a:r>
              <a:rPr lang="en-US" dirty="0"/>
              <a:t> for simple labels</a:t>
            </a:r>
          </a:p>
          <a:p>
            <a:pPr lvl="1"/>
            <a:r>
              <a:rPr lang="en-US" b="1" dirty="0"/>
              <a:t>Crowdsourcing</a:t>
            </a:r>
            <a:r>
              <a:rPr lang="en-US" dirty="0"/>
              <a:t> for high-volume tasks</a:t>
            </a:r>
          </a:p>
          <a:p>
            <a:pPr lvl="1"/>
            <a:r>
              <a:rPr lang="en-US" b="1" dirty="0"/>
              <a:t>Domain experts</a:t>
            </a:r>
            <a:r>
              <a:rPr lang="en-US" dirty="0"/>
              <a:t> for complex or safety-critical annotations</a:t>
            </a:r>
          </a:p>
          <a:p>
            <a:r>
              <a:rPr lang="en-US" dirty="0"/>
              <a:t>Provide annotators with:</a:t>
            </a:r>
          </a:p>
          <a:p>
            <a:pPr lvl="1"/>
            <a:r>
              <a:rPr lang="en-US" dirty="0"/>
              <a:t>Clear </a:t>
            </a:r>
            <a:r>
              <a:rPr lang="en-US" b="1" dirty="0"/>
              <a:t>labeling guidelines</a:t>
            </a:r>
            <a:endParaRPr lang="en-US" dirty="0"/>
          </a:p>
          <a:p>
            <a:pPr lvl="1"/>
            <a:r>
              <a:rPr lang="en-US" b="1" dirty="0"/>
              <a:t>Examples and edge cases</a:t>
            </a:r>
            <a:endParaRPr lang="en-US" dirty="0"/>
          </a:p>
          <a:p>
            <a:pPr lvl="1"/>
            <a:r>
              <a:rPr lang="en-US" dirty="0"/>
              <a:t>Calibration checks (e.g., </a:t>
            </a:r>
            <a:r>
              <a:rPr lang="en-US" b="1" dirty="0"/>
              <a:t>inter-annotator agreement</a:t>
            </a:r>
            <a:r>
              <a:rPr lang="en-US" dirty="0"/>
              <a:t>)</a:t>
            </a:r>
          </a:p>
          <a:p>
            <a:r>
              <a:rPr lang="en-US" dirty="0"/>
              <a:t>Use hybrid methods:</a:t>
            </a:r>
          </a:p>
          <a:p>
            <a:pPr lvl="1"/>
            <a:r>
              <a:rPr lang="en-US" dirty="0"/>
              <a:t>Pre-label with heuristics → </a:t>
            </a:r>
            <a:r>
              <a:rPr lang="en-US" b="1" dirty="0"/>
              <a:t>verify with humans</a:t>
            </a:r>
            <a:endParaRPr lang="en-US" dirty="0"/>
          </a:p>
          <a:p>
            <a:pPr lvl="1"/>
            <a:r>
              <a:rPr lang="en-US" b="1" dirty="0"/>
              <a:t>Active learning</a:t>
            </a:r>
            <a:r>
              <a:rPr lang="en-US" dirty="0"/>
              <a:t> to select the most useful samples for labeling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139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16926-3BD8-46F8-A84A-B34A5F593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Labeling &amp; Annotation Strategy</a:t>
            </a:r>
          </a:p>
          <a:p>
            <a:r>
              <a:rPr lang="en-US" dirty="0"/>
              <a:t>Choose labeling approach depending on complexity:</a:t>
            </a:r>
          </a:p>
          <a:p>
            <a:pPr lvl="1"/>
            <a:r>
              <a:rPr lang="en-US" b="1" dirty="0"/>
              <a:t>Weak supervision/heuristics</a:t>
            </a:r>
            <a:r>
              <a:rPr lang="en-US" dirty="0"/>
              <a:t> for simple labels</a:t>
            </a:r>
          </a:p>
          <a:p>
            <a:pPr lvl="2"/>
            <a:r>
              <a:rPr lang="en-US" dirty="0"/>
              <a:t>Use simple rules to label data automatically.</a:t>
            </a:r>
            <a:br>
              <a:rPr lang="en-US" dirty="0"/>
            </a:br>
            <a:r>
              <a:rPr lang="en-US" dirty="0"/>
              <a:t>Example: If PM2.5 &gt; 250 → label as "Severe."</a:t>
            </a:r>
          </a:p>
          <a:p>
            <a:pPr lvl="1"/>
            <a:r>
              <a:rPr lang="en-US" b="1" dirty="0"/>
              <a:t>Crowdsourcing</a:t>
            </a:r>
            <a:r>
              <a:rPr lang="en-US" dirty="0"/>
              <a:t> for high-volume tasks</a:t>
            </a:r>
          </a:p>
          <a:p>
            <a:pPr lvl="2"/>
            <a:r>
              <a:rPr lang="en-US" dirty="0"/>
              <a:t>Many people label simple data that doesn’t need deep expertise.</a:t>
            </a:r>
            <a:br>
              <a:rPr lang="en-US" dirty="0"/>
            </a:br>
            <a:r>
              <a:rPr lang="en-US" dirty="0"/>
              <a:t>Example: "Is this leaf green or yellow?" Anyone can answer.</a:t>
            </a:r>
          </a:p>
          <a:p>
            <a:pPr lvl="1"/>
            <a:r>
              <a:rPr lang="en-US" b="1" dirty="0"/>
              <a:t>Domain experts</a:t>
            </a:r>
            <a:r>
              <a:rPr lang="en-US" dirty="0"/>
              <a:t> for complex or safety-critical annotations</a:t>
            </a:r>
          </a:p>
          <a:p>
            <a:pPr lvl="2"/>
            <a:r>
              <a:rPr lang="en-US" dirty="0"/>
              <a:t>Use specialists when the label is complicated or important.</a:t>
            </a:r>
            <a:br>
              <a:rPr lang="en-US" dirty="0"/>
            </a:br>
            <a:r>
              <a:rPr lang="en-US" dirty="0"/>
              <a:t>Example: A plant pathologist deciding the exact crop disease.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60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39B7E-17C7-41B3-B450-E10A70FFF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9756F-7DC7-42B3-859F-DA8AA35B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Provide annotators with:</a:t>
            </a:r>
          </a:p>
          <a:p>
            <a:pPr lvl="1"/>
            <a:r>
              <a:rPr lang="en-US" dirty="0"/>
              <a:t>Clear </a:t>
            </a:r>
            <a:r>
              <a:rPr lang="en-US" b="1" dirty="0"/>
              <a:t>labeling guidelines</a:t>
            </a:r>
            <a:endParaRPr lang="en-US" dirty="0"/>
          </a:p>
          <a:p>
            <a:pPr lvl="1"/>
            <a:r>
              <a:rPr lang="en-US" b="1" dirty="0"/>
              <a:t>Examples and edge cases: </a:t>
            </a:r>
            <a:r>
              <a:rPr lang="en-US" dirty="0"/>
              <a:t>Examples of correct and incorrect labels</a:t>
            </a:r>
          </a:p>
          <a:p>
            <a:r>
              <a:rPr lang="en-US" dirty="0"/>
              <a:t>Calibration checks (e.g., </a:t>
            </a:r>
            <a:r>
              <a:rPr lang="en-US" b="1" dirty="0"/>
              <a:t>inter-annotator agreement</a:t>
            </a:r>
            <a:r>
              <a:rPr lang="en-US" dirty="0"/>
              <a:t>) : Sometimes two people label the same item differently. So you check their agreement (called </a:t>
            </a:r>
            <a:r>
              <a:rPr lang="en-US" i="1" dirty="0"/>
              <a:t>inter-annotator agreement</a:t>
            </a:r>
            <a:r>
              <a:rPr lang="en-US" dirty="0"/>
              <a:t>).</a:t>
            </a:r>
          </a:p>
          <a:p>
            <a:r>
              <a:rPr lang="en-US" dirty="0"/>
              <a:t>If people disagree too much:</a:t>
            </a:r>
          </a:p>
          <a:p>
            <a:pPr lvl="1"/>
            <a:r>
              <a:rPr lang="en-US" dirty="0"/>
              <a:t>The rules need improvement</a:t>
            </a:r>
          </a:p>
          <a:p>
            <a:pPr lvl="1"/>
            <a:r>
              <a:rPr lang="en-US" dirty="0"/>
              <a:t>The label is unclear</a:t>
            </a:r>
          </a:p>
          <a:p>
            <a:pPr lvl="1"/>
            <a:r>
              <a:rPr lang="en-US" dirty="0"/>
              <a:t>Or more training is needed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775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FDB82-A43C-481D-B713-F332E09E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9626B-8DEA-4362-837A-E3379CF80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hybrid methods:</a:t>
            </a:r>
          </a:p>
          <a:p>
            <a:pPr lvl="1"/>
            <a:r>
              <a:rPr lang="en-US" dirty="0"/>
              <a:t>Pre-label with heuristics → </a:t>
            </a:r>
            <a:r>
              <a:rPr lang="en-US" b="1" dirty="0"/>
              <a:t>verify with humans</a:t>
            </a:r>
          </a:p>
          <a:p>
            <a:pPr lvl="2"/>
            <a:r>
              <a:rPr lang="en-US" dirty="0"/>
              <a:t>Instead of labeling everything manually:</a:t>
            </a:r>
          </a:p>
          <a:p>
            <a:pPr lvl="2"/>
            <a:r>
              <a:rPr lang="en-US" b="1" dirty="0"/>
              <a:t>Use simple rules to pre-label data first</a:t>
            </a:r>
            <a:br>
              <a:rPr lang="en-US" dirty="0"/>
            </a:br>
            <a:r>
              <a:rPr lang="en-US" dirty="0"/>
              <a:t>(e.g., “If leaf is fully yellow → likely nutrient deficiency”)</a:t>
            </a:r>
          </a:p>
          <a:p>
            <a:pPr lvl="2"/>
            <a:r>
              <a:rPr lang="en-US" b="1" dirty="0"/>
              <a:t>Then humans double-check</a:t>
            </a:r>
            <a:r>
              <a:rPr lang="en-US" dirty="0"/>
              <a:t>, so you save time.</a:t>
            </a:r>
          </a:p>
          <a:p>
            <a:pPr lvl="2"/>
            <a:endParaRPr lang="en-US" dirty="0"/>
          </a:p>
          <a:p>
            <a:pPr lvl="1"/>
            <a:r>
              <a:rPr lang="en-US" b="1" dirty="0"/>
              <a:t>Active learning</a:t>
            </a:r>
            <a:r>
              <a:rPr lang="en-US" dirty="0"/>
              <a:t> to select the most useful samples for labeling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085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C008A-8114-4968-8552-7410FB53A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9828"/>
            <a:ext cx="10515600" cy="5797135"/>
          </a:xfrm>
        </p:spPr>
        <p:txBody>
          <a:bodyPr>
            <a:normAutofit/>
          </a:bodyPr>
          <a:lstStyle/>
          <a:p>
            <a:r>
              <a:rPr lang="en-US" b="1" dirty="0"/>
              <a:t>4. Governance, Monitoring &amp; Continuous Feedback</a:t>
            </a:r>
          </a:p>
          <a:p>
            <a:r>
              <a:rPr lang="en-US" dirty="0"/>
              <a:t>Ensure compliance: capture </a:t>
            </a:r>
            <a:r>
              <a:rPr lang="en-US" b="1" dirty="0"/>
              <a:t>consent, privacy metadata, anonymization, encryption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Get consent (people must agree to give their data).</a:t>
            </a:r>
          </a:p>
          <a:p>
            <a:pPr lvl="1"/>
            <a:r>
              <a:rPr lang="en-US" dirty="0"/>
              <a:t>Store privacy-related information, like when consent was given.</a:t>
            </a:r>
          </a:p>
          <a:p>
            <a:pPr lvl="1"/>
            <a:r>
              <a:rPr lang="en-US" dirty="0"/>
              <a:t>Use anonymization (remove names, phone numbers, anything personal).</a:t>
            </a:r>
          </a:p>
          <a:p>
            <a:pPr lvl="1"/>
            <a:r>
              <a:rPr lang="en-US" dirty="0"/>
              <a:t>Use encryption so no one can read the data if it leaks.</a:t>
            </a:r>
          </a:p>
          <a:p>
            <a:r>
              <a:rPr lang="en-US" dirty="0"/>
              <a:t>Maintain </a:t>
            </a:r>
            <a:r>
              <a:rPr lang="en-US" b="1" dirty="0"/>
              <a:t>audit logs</a:t>
            </a:r>
            <a:r>
              <a:rPr lang="en-US" dirty="0"/>
              <a:t> for changes in collection code, labeling guidelines, and dataset versions </a:t>
            </a:r>
          </a:p>
          <a:p>
            <a:pPr lvl="1"/>
            <a:r>
              <a:rPr lang="en-US" dirty="0"/>
              <a:t>This helps you understand what happened if the model suddenly stops working..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4398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E1B5B-CDFD-49DB-8938-9A26635F4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65209-8EB4-4EE7-9949-EEA50910F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Continuously monitor incoming data for:</a:t>
            </a:r>
          </a:p>
          <a:p>
            <a:pPr lvl="1"/>
            <a:r>
              <a:rPr lang="en-US" b="1" dirty="0"/>
              <a:t>Distribution shifts: </a:t>
            </a:r>
            <a:r>
              <a:rPr lang="en-US" dirty="0"/>
              <a:t>Are the new values very different from before? (e.g., PM2.5 suddenly always high compared to last year)</a:t>
            </a:r>
          </a:p>
          <a:p>
            <a:pPr lvl="1"/>
            <a:r>
              <a:rPr lang="en-US" dirty="0"/>
              <a:t>Sampling bias: Are you accidentally collecting more data from one group only? (e.g., leaf images only from one type of farm)</a:t>
            </a:r>
          </a:p>
          <a:p>
            <a:pPr lvl="1"/>
            <a:r>
              <a:rPr lang="en-US" dirty="0"/>
              <a:t>Sudden changes in data patterns (e.g., new camera, UI changes, sensor errors)</a:t>
            </a:r>
          </a:p>
          <a:p>
            <a:pPr lvl="2"/>
            <a:r>
              <a:rPr lang="en-US" dirty="0"/>
              <a:t>A new camera model → images look different </a:t>
            </a:r>
          </a:p>
          <a:p>
            <a:pPr lvl="2"/>
            <a:r>
              <a:rPr lang="en-US" dirty="0"/>
              <a:t>A sensor breaks → produces strange values </a:t>
            </a:r>
          </a:p>
          <a:p>
            <a:pPr lvl="2"/>
            <a:r>
              <a:rPr lang="en-US" dirty="0"/>
              <a:t>App update → changes how data is recorded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982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37CA6-DDC9-48FE-BB36-148F49DB8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E72F92-0DE9-47B9-84ED-9B5910757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Metrics help you measure model performance at every stage of the ML pipeline. </a:t>
            </a:r>
          </a:p>
          <a:p>
            <a:r>
              <a:rPr lang="en-US" b="1" dirty="0"/>
              <a:t>1. Classification Metrics (With Equations + Explanation)</a:t>
            </a:r>
          </a:p>
          <a:p>
            <a:r>
              <a:rPr lang="en-US" b="1" dirty="0"/>
              <a:t>Confusion Matrix Terms</a:t>
            </a:r>
          </a:p>
          <a:p>
            <a:r>
              <a:rPr lang="en-US" b="1" dirty="0"/>
              <a:t>TP</a:t>
            </a:r>
            <a:r>
              <a:rPr lang="en-US" dirty="0"/>
              <a:t>: Model predicted positive &amp; it was positive</a:t>
            </a:r>
          </a:p>
          <a:p>
            <a:r>
              <a:rPr lang="en-US" b="1" dirty="0"/>
              <a:t>TN</a:t>
            </a:r>
            <a:r>
              <a:rPr lang="en-US" dirty="0"/>
              <a:t>: Model predicted negative &amp; it was negative</a:t>
            </a:r>
          </a:p>
          <a:p>
            <a:r>
              <a:rPr lang="en-US" b="1" dirty="0"/>
              <a:t>FP</a:t>
            </a:r>
            <a:r>
              <a:rPr lang="en-US" dirty="0"/>
              <a:t>: Model predicted positive but was wrong</a:t>
            </a:r>
          </a:p>
          <a:p>
            <a:r>
              <a:rPr lang="en-US" b="1" dirty="0"/>
              <a:t>FN</a:t>
            </a:r>
            <a:r>
              <a:rPr lang="en-US" dirty="0"/>
              <a:t>: Model predicted negative but was wrong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986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1EFF911-0A05-49E2-BB65-4C51E4A2D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6840" y="420383"/>
            <a:ext cx="9628162" cy="46943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C5FF35-F2F4-4DFA-83DB-7B4F36061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382" y="5339860"/>
            <a:ext cx="9515620" cy="67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320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C4C21-37F1-412F-A017-B0E8A3F70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914" y="770548"/>
            <a:ext cx="10515600" cy="4351338"/>
          </a:xfrm>
        </p:spPr>
        <p:txBody>
          <a:bodyPr/>
          <a:lstStyle/>
          <a:p>
            <a:r>
              <a:rPr lang="en-US" b="1" dirty="0"/>
              <a:t>2. Regression Metrics (Equations + Explanation)</a:t>
            </a:r>
          </a:p>
          <a:p>
            <a:r>
              <a:rPr lang="en-US" dirty="0"/>
              <a:t>Given:</a:t>
            </a:r>
          </a:p>
          <a:p>
            <a:r>
              <a:rPr lang="en-US" dirty="0"/>
              <a:t>True value: yi</a:t>
            </a:r>
          </a:p>
          <a:p>
            <a:r>
              <a:rPr lang="en-US" dirty="0"/>
              <a:t>Predicted value: y^i</a:t>
            </a:r>
          </a:p>
          <a:p>
            <a:r>
              <a:rPr lang="en-US" dirty="0"/>
              <a:t>Total points: 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989D8C-0636-4A28-9CC4-F3E0213E3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871" y="3274255"/>
            <a:ext cx="7409351" cy="269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27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317B0-46EB-4A5B-907F-CCD497882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CC9A0-5340-4DD1-A827-194C8EB2A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Clustering Metrics (Equations + Explanation)</a:t>
            </a:r>
          </a:p>
          <a:p>
            <a:r>
              <a:rPr lang="en-US" b="1" dirty="0"/>
              <a:t>A. </a:t>
            </a:r>
            <a:r>
              <a:rPr lang="en-US" dirty="0"/>
              <a:t>Silhouette Score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4F8609-0FC2-4D80-8949-BEC4F4B55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496" y="2732063"/>
            <a:ext cx="5667449" cy="310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830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4E005-4E08-49EC-A860-059239FF2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2FA83-FC13-459D-B163-7BBE34E2F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Davies–Bouldin Index (DBI)</a:t>
            </a:r>
          </a:p>
          <a:p>
            <a:r>
              <a:rPr lang="en-US" dirty="0"/>
              <a:t>DBI is a </a:t>
            </a:r>
            <a:r>
              <a:rPr lang="en-US" b="1" dirty="0"/>
              <a:t>clustering evaluation metric</a:t>
            </a:r>
            <a:r>
              <a:rPr lang="en-US" dirty="0"/>
              <a:t> that tells you how </a:t>
            </a:r>
            <a:r>
              <a:rPr lang="en-US" i="1" dirty="0"/>
              <a:t>good</a:t>
            </a:r>
            <a:r>
              <a:rPr lang="en-US" dirty="0"/>
              <a:t> your clusters are.</a:t>
            </a:r>
            <a:br>
              <a:rPr lang="en-US" dirty="0"/>
            </a:br>
            <a:r>
              <a:rPr lang="en-US" dirty="0"/>
              <a:t>You want clusters that are:</a:t>
            </a:r>
          </a:p>
          <a:p>
            <a:r>
              <a:rPr lang="en-US" b="1" dirty="0"/>
              <a:t>Compact</a:t>
            </a:r>
            <a:r>
              <a:rPr lang="en-US" dirty="0"/>
              <a:t> (points close to each other inside the same cluster)</a:t>
            </a:r>
          </a:p>
          <a:p>
            <a:r>
              <a:rPr lang="en-US" b="1" dirty="0"/>
              <a:t>Well separated</a:t>
            </a:r>
            <a:r>
              <a:rPr lang="en-US" dirty="0"/>
              <a:t> (clusters far from each other)</a:t>
            </a:r>
          </a:p>
          <a:p>
            <a:r>
              <a:rPr lang="en-US" dirty="0"/>
              <a:t>DBI combines these two goals into </a:t>
            </a:r>
            <a:r>
              <a:rPr lang="en-US" b="1" dirty="0"/>
              <a:t>one score</a:t>
            </a:r>
            <a:r>
              <a:rPr lang="en-US" dirty="0"/>
              <a:t>.</a:t>
            </a:r>
          </a:p>
          <a:p>
            <a:r>
              <a:rPr lang="en-US" dirty="0"/>
              <a:t>Lower DBI = better clustering.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925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E4BF1-55C2-43D6-A554-683CB4CEE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EA814-0F16-4BD7-8CAF-25ED7E419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Si​: Intra-cluster scatter</a:t>
            </a:r>
          </a:p>
          <a:p>
            <a:r>
              <a:rPr lang="en-US" dirty="0" err="1"/>
              <a:t>Mij</a:t>
            </a:r>
            <a:r>
              <a:rPr lang="en-US" dirty="0"/>
              <a:t>​: Distance between two cluster centers-This is the </a:t>
            </a:r>
            <a:r>
              <a:rPr lang="en-US" b="1" dirty="0"/>
              <a:t>distance between the centroid of cluster </a:t>
            </a:r>
            <a:r>
              <a:rPr lang="en-US" b="1" dirty="0" err="1"/>
              <a:t>i</a:t>
            </a:r>
            <a:r>
              <a:rPr lang="en-US" b="1" dirty="0"/>
              <a:t> and centroid of cluster j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D7D239-0535-43E1-8220-604AA7602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975" y="4370204"/>
            <a:ext cx="6484542" cy="16344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DAEE44-52D5-4758-8400-0106B7AA9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783" y="3239294"/>
            <a:ext cx="3734392" cy="117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946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4C763-CEDE-47D0-A9C0-0E69167BE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89ECD6-5A09-4CAE-AD6F-55A87DE93D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1195" y="2028226"/>
            <a:ext cx="6160653" cy="16575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F9BA9B-136D-43C2-998C-BA13B5FE0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190" y="3429000"/>
            <a:ext cx="7560066" cy="184516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4C468F1-5C06-4DDA-8929-0F458D74162C}"/>
              </a:ext>
            </a:extLst>
          </p:cNvPr>
          <p:cNvSpPr/>
          <p:nvPr/>
        </p:nvSpPr>
        <p:spPr>
          <a:xfrm>
            <a:off x="1640205" y="5274169"/>
            <a:ext cx="77070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Low inertia = good clustering→ Points are close to their cluster centers</a:t>
            </a:r>
          </a:p>
          <a:p>
            <a:r>
              <a:rPr lang="en-US" dirty="0"/>
              <a:t>High inertia = poor clustering→ Points are far from their centers</a:t>
            </a:r>
          </a:p>
        </p:txBody>
      </p:sp>
    </p:spTree>
    <p:extLst>
      <p:ext uri="{BB962C8B-B14F-4D97-AF65-F5344CB8AC3E}">
        <p14:creationId xmlns:p14="http://schemas.microsoft.com/office/powerpoint/2010/main" val="3730518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CAD45-3D25-4BED-89E9-4BDA6AB51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Model Building (The Learning Phase)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751A1-B213-40DE-9013-AE8E0ECDE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This is the stage where your machine learning system actually </a:t>
            </a:r>
            <a:r>
              <a:rPr lang="en-US" i="1" dirty="0"/>
              <a:t>learns</a:t>
            </a:r>
            <a:r>
              <a:rPr lang="en-US" dirty="0"/>
              <a:t> from data.</a:t>
            </a:r>
          </a:p>
          <a:p>
            <a:r>
              <a:rPr lang="en-US" b="1" dirty="0"/>
              <a:t>What happens here?</a:t>
            </a:r>
          </a:p>
          <a:p>
            <a:r>
              <a:rPr lang="en-US" dirty="0"/>
              <a:t>You start with a clearly defined problem (classification, regression, clustering, forecasting, etc.).</a:t>
            </a:r>
          </a:p>
          <a:p>
            <a:r>
              <a:rPr lang="en-US" dirty="0"/>
              <a:t>Data is split into </a:t>
            </a:r>
            <a:r>
              <a:rPr lang="en-US" b="1" dirty="0"/>
              <a:t>train</a:t>
            </a:r>
            <a:r>
              <a:rPr lang="en-US" dirty="0"/>
              <a:t>, </a:t>
            </a:r>
            <a:r>
              <a:rPr lang="en-US" b="1" dirty="0"/>
              <a:t>validation</a:t>
            </a:r>
            <a:r>
              <a:rPr lang="en-US" dirty="0"/>
              <a:t>, and </a:t>
            </a:r>
            <a:r>
              <a:rPr lang="en-US" b="1" dirty="0"/>
              <a:t>test</a:t>
            </a:r>
            <a:r>
              <a:rPr lang="en-US" dirty="0"/>
              <a:t> sets.</a:t>
            </a:r>
          </a:p>
          <a:p>
            <a:r>
              <a:rPr lang="en-US" dirty="0"/>
              <a:t>You choose the right algorithm depending on the data and the goal (e.g., Random Forest, </a:t>
            </a:r>
            <a:r>
              <a:rPr lang="en-US" dirty="0" err="1"/>
              <a:t>XGBoost</a:t>
            </a:r>
            <a:r>
              <a:rPr lang="en-US" dirty="0"/>
              <a:t>, CNN, LSTM).</a:t>
            </a:r>
          </a:p>
          <a:p>
            <a:r>
              <a:rPr lang="en-US" dirty="0"/>
              <a:t>The model is trained—meaning it looks at patterns, adjusts parameters, and tries to reduce error.</a:t>
            </a:r>
          </a:p>
          <a:p>
            <a:r>
              <a:rPr lang="en-US" dirty="0"/>
              <a:t>Hyperparameters (learning rate, number of trees, depth, etc.) are tuned using Grid Search, Random Search, or Bayesian optimization.</a:t>
            </a:r>
          </a:p>
          <a:p>
            <a:r>
              <a:rPr lang="en-US" dirty="0"/>
              <a:t>You evaluate the trained model using metrics like accuracy, RMSE, F1-score, AUC, etc.</a:t>
            </a:r>
          </a:p>
          <a:p>
            <a:r>
              <a:rPr lang="en-US" dirty="0"/>
              <a:t>Finally, the best-performing model is selected and saved for deployment.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300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0E7D3-129F-471D-BC7A-293D7B1BA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7BCCE-B0C3-45FE-A190-AA035025C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Model Deployment (Putting the Model into the Real World)</a:t>
            </a:r>
          </a:p>
          <a:p>
            <a:r>
              <a:rPr lang="en-US" dirty="0"/>
              <a:t>Once the model is trained and evaluated, it’s time to let real users or systems interact with it.</a:t>
            </a:r>
          </a:p>
          <a:p>
            <a:r>
              <a:rPr lang="en-US" b="1" dirty="0"/>
              <a:t>What happens here?</a:t>
            </a:r>
          </a:p>
          <a:p>
            <a:r>
              <a:rPr lang="en-US" dirty="0"/>
              <a:t>The final model is converted into a deployable format (pickle, </a:t>
            </a:r>
            <a:r>
              <a:rPr lang="en-US" dirty="0" err="1"/>
              <a:t>joblib</a:t>
            </a:r>
            <a:r>
              <a:rPr lang="en-US" dirty="0"/>
              <a:t>, </a:t>
            </a:r>
            <a:r>
              <a:rPr lang="en-US" dirty="0" err="1"/>
              <a:t>SavedModel</a:t>
            </a:r>
            <a:r>
              <a:rPr lang="en-US" dirty="0"/>
              <a:t>, ONNX).</a:t>
            </a:r>
          </a:p>
          <a:p>
            <a:pPr lvl="1"/>
            <a:r>
              <a:rPr lang="en-US" dirty="0"/>
              <a:t>It makes the model reusable </a:t>
            </a:r>
          </a:p>
          <a:p>
            <a:pPr lvl="1"/>
            <a:r>
              <a:rPr lang="en-US" dirty="0"/>
              <a:t>It allows other systems (APIs, mobile apps, cloud services) to load the model</a:t>
            </a:r>
          </a:p>
          <a:p>
            <a:pPr lvl="1"/>
            <a:r>
              <a:rPr lang="en-US" dirty="0"/>
              <a:t>It ensures consistency between training and production.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201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0BAA3-A1E4-4D01-B83A-1F8860FE3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422A7-F3F8-4E7D-94CB-60B763116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integrated into an application:</a:t>
            </a:r>
          </a:p>
          <a:p>
            <a:pPr lvl="1"/>
            <a:r>
              <a:rPr lang="en-US" b="1" dirty="0"/>
              <a:t>API endpoints</a:t>
            </a:r>
            <a:r>
              <a:rPr lang="en-US" dirty="0"/>
              <a:t> using Flask/</a:t>
            </a:r>
            <a:r>
              <a:rPr lang="en-US" dirty="0" err="1"/>
              <a:t>FastAPI</a:t>
            </a:r>
            <a:endParaRPr lang="en-US" dirty="0"/>
          </a:p>
          <a:p>
            <a:pPr lvl="1"/>
            <a:r>
              <a:rPr lang="en-US" b="1" dirty="0"/>
              <a:t>Web apps</a:t>
            </a:r>
            <a:endParaRPr lang="en-US" dirty="0"/>
          </a:p>
          <a:p>
            <a:pPr lvl="1"/>
            <a:r>
              <a:rPr lang="en-US" b="1" dirty="0"/>
              <a:t>Mobile apps</a:t>
            </a:r>
            <a:endParaRPr lang="en-US" dirty="0"/>
          </a:p>
          <a:p>
            <a:pPr lvl="1"/>
            <a:r>
              <a:rPr lang="en-US" b="1" dirty="0"/>
              <a:t>Cloud services</a:t>
            </a:r>
            <a:r>
              <a:rPr lang="en-US" dirty="0"/>
              <a:t> (AWS </a:t>
            </a:r>
            <a:r>
              <a:rPr lang="en-US" dirty="0" err="1"/>
              <a:t>SageMaker</a:t>
            </a:r>
            <a:r>
              <a:rPr lang="en-US" dirty="0"/>
              <a:t>, GCP AI Platform, Azure ML)</a:t>
            </a:r>
          </a:p>
          <a:p>
            <a:r>
              <a:rPr lang="en-US" dirty="0"/>
              <a:t>The model is hosted on a server or cloud environment.</a:t>
            </a:r>
          </a:p>
          <a:p>
            <a:r>
              <a:rPr lang="en-US" dirty="0"/>
              <a:t>Input data from real users flows into the model.</a:t>
            </a:r>
          </a:p>
          <a:p>
            <a:r>
              <a:rPr lang="en-US" dirty="0"/>
              <a:t>Predictions are returned instantly (or near real-time).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4595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362E64-9E0C-4A11-8753-E10F715AC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8978"/>
            <a:ext cx="10515600" cy="5557985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Model Updating (Keeping the Model Fresh &amp; Accurate)</a:t>
            </a:r>
          </a:p>
          <a:p>
            <a:r>
              <a:rPr lang="en-US" dirty="0"/>
              <a:t>Once a model is deployed, the real world keeps changing. That’s where updating or retraining comes in.</a:t>
            </a:r>
          </a:p>
          <a:p>
            <a:r>
              <a:rPr lang="en-US" b="1" dirty="0"/>
              <a:t>What happens here?</a:t>
            </a:r>
          </a:p>
          <a:p>
            <a:r>
              <a:rPr lang="en-US" dirty="0"/>
              <a:t>The system continuously collects new data (real-time or periodically).</a:t>
            </a:r>
          </a:p>
          <a:p>
            <a:r>
              <a:rPr lang="en-US" dirty="0"/>
              <a:t>After deployment, every real-time interaction becomes a potential new training example.</a:t>
            </a:r>
          </a:p>
          <a:p>
            <a:pPr lvl="1"/>
            <a:r>
              <a:rPr lang="en-US" dirty="0"/>
              <a:t>User inputs (text, images, numbers, sensor readings)</a:t>
            </a:r>
          </a:p>
          <a:p>
            <a:pPr lvl="1"/>
            <a:r>
              <a:rPr lang="en-US" dirty="0"/>
              <a:t>System logs (requests, feedback)</a:t>
            </a:r>
          </a:p>
          <a:p>
            <a:pPr lvl="1"/>
            <a:r>
              <a:rPr lang="en-US" dirty="0"/>
              <a:t>IoT / sensor streams</a:t>
            </a:r>
          </a:p>
          <a:p>
            <a:pPr lvl="1"/>
            <a:r>
              <a:rPr lang="en-US" dirty="0"/>
              <a:t>Customer clicks, ratings, transactions</a:t>
            </a:r>
          </a:p>
          <a:p>
            <a:r>
              <a:rPr lang="en-US" dirty="0"/>
              <a:t>We need to Collect new data because </a:t>
            </a:r>
          </a:p>
          <a:p>
            <a:pPr lvl="1"/>
            <a:r>
              <a:rPr lang="en-US" dirty="0"/>
              <a:t>Because:</a:t>
            </a:r>
          </a:p>
          <a:p>
            <a:pPr lvl="1"/>
            <a:r>
              <a:rPr lang="en-US" dirty="0"/>
              <a:t>The world changes (concept drift)</a:t>
            </a:r>
          </a:p>
          <a:p>
            <a:pPr lvl="1"/>
            <a:r>
              <a:rPr lang="en-US" dirty="0"/>
              <a:t>User patterns evolve</a:t>
            </a:r>
          </a:p>
          <a:p>
            <a:pPr lvl="1"/>
            <a:r>
              <a:rPr lang="en-US" dirty="0"/>
              <a:t>New types of inputs start appearing</a:t>
            </a:r>
          </a:p>
          <a:p>
            <a:pPr lvl="1"/>
            <a:r>
              <a:rPr lang="en-US" dirty="0"/>
              <a:t>The original training dataset becomes outdated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34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EF4E6-FC3A-4410-A05A-531DC7C37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680CD-8DE3-4E76-9C89-DBA8AC065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Performance is monitored using metrics like accuracy, drift score, latency, etc.</a:t>
            </a:r>
          </a:p>
          <a:p>
            <a:r>
              <a:rPr lang="en-US" dirty="0"/>
              <a:t>If performance drops (due to concept drift or data drift), the model is retrained:</a:t>
            </a:r>
          </a:p>
          <a:p>
            <a:pPr lvl="1"/>
            <a:r>
              <a:rPr lang="en-US" b="1" dirty="0"/>
              <a:t>Incremental learning</a:t>
            </a:r>
            <a:r>
              <a:rPr lang="en-US" dirty="0"/>
              <a:t> (update only with new data)</a:t>
            </a:r>
          </a:p>
          <a:p>
            <a:pPr lvl="1"/>
            <a:r>
              <a:rPr lang="en-US" b="1" dirty="0"/>
              <a:t>Full retraining</a:t>
            </a:r>
            <a:r>
              <a:rPr lang="en-US" dirty="0"/>
              <a:t> (retrain with old + new data)</a:t>
            </a:r>
          </a:p>
          <a:p>
            <a:pPr lvl="1"/>
            <a:r>
              <a:rPr lang="en-US" b="1" dirty="0"/>
              <a:t>Model versioning</a:t>
            </a:r>
            <a:r>
              <a:rPr lang="en-US" dirty="0"/>
              <a:t> (v1, v2, v3…)</a:t>
            </a:r>
          </a:p>
          <a:p>
            <a:r>
              <a:rPr lang="en-US" dirty="0"/>
              <a:t>Updated versions are tested and redeployed.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563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C44F1-9F5A-4007-A6F0-286F8D07E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3F506-65FA-433E-9221-3EF7DCA71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Incremental Learning</a:t>
            </a:r>
          </a:p>
          <a:p>
            <a:r>
              <a:rPr lang="en-US" dirty="0"/>
              <a:t>The model is partially updated:</a:t>
            </a:r>
          </a:p>
          <a:p>
            <a:r>
              <a:rPr lang="en-US" dirty="0"/>
              <a:t>Only new data (last few days/weeks) is used</a:t>
            </a:r>
          </a:p>
          <a:p>
            <a:r>
              <a:rPr lang="en-US" dirty="0"/>
              <a:t>Useful when data changes fast</a:t>
            </a:r>
          </a:p>
          <a:p>
            <a:r>
              <a:rPr lang="en-US" dirty="0"/>
              <a:t>Saves computation time</a:t>
            </a:r>
          </a:p>
          <a:p>
            <a:r>
              <a:rPr lang="en-US" dirty="0"/>
              <a:t>Works well for algorithms that support online learning:</a:t>
            </a:r>
          </a:p>
          <a:p>
            <a:pPr lvl="1"/>
            <a:r>
              <a:rPr lang="en-US" dirty="0" err="1"/>
              <a:t>SGDClassifier</a:t>
            </a:r>
            <a:endParaRPr lang="en-US" dirty="0"/>
          </a:p>
          <a:p>
            <a:pPr lvl="1"/>
            <a:r>
              <a:rPr lang="en-US" dirty="0"/>
              <a:t>Online Naive Bayes</a:t>
            </a:r>
          </a:p>
          <a:p>
            <a:pPr lvl="1"/>
            <a:r>
              <a:rPr lang="en-US" dirty="0"/>
              <a:t>Reinforcement learning models</a:t>
            </a:r>
          </a:p>
          <a:p>
            <a:pPr lvl="1"/>
            <a:r>
              <a:rPr lang="en-US" dirty="0"/>
              <a:t>Some neural networks with fine-tuning</a:t>
            </a:r>
          </a:p>
          <a:p>
            <a:pPr lvl="1"/>
            <a:endParaRPr lang="en-US" dirty="0"/>
          </a:p>
          <a:p>
            <a:pPr marL="228600" lvl="1">
              <a:spcBef>
                <a:spcPts val="1000"/>
              </a:spcBef>
            </a:pPr>
            <a:r>
              <a:rPr lang="en-US" sz="2800" dirty="0"/>
              <a:t>Example:</a:t>
            </a:r>
            <a:br>
              <a:rPr lang="en-US" sz="2800" dirty="0"/>
            </a:br>
            <a:r>
              <a:rPr lang="en-US" sz="2800" dirty="0"/>
              <a:t>If daily pollution data changes due to a new local event, you fine-tune the PM2.5 model with recent patterns.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714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8BDC5-14B5-4EB1-8550-D8A8948F2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8978"/>
            <a:ext cx="10515600" cy="5557985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Full retraining</a:t>
            </a:r>
            <a:r>
              <a:rPr lang="en-US" dirty="0"/>
              <a:t> (retrain with old + new data)</a:t>
            </a:r>
          </a:p>
          <a:p>
            <a:r>
              <a:rPr lang="en-US" dirty="0"/>
              <a:t>Here, the whole model is rebuilt from scratch:</a:t>
            </a:r>
          </a:p>
          <a:p>
            <a:r>
              <a:rPr lang="en-US" dirty="0"/>
              <a:t>Combine historical dataset + new data</a:t>
            </a:r>
          </a:p>
          <a:p>
            <a:r>
              <a:rPr lang="en-US" dirty="0"/>
              <a:t>Shuffle and retrain entire pipeline</a:t>
            </a:r>
          </a:p>
          <a:p>
            <a:r>
              <a:rPr lang="en-US" dirty="0"/>
              <a:t>More stable and reliable</a:t>
            </a:r>
          </a:p>
          <a:p>
            <a:r>
              <a:rPr lang="en-US" dirty="0"/>
              <a:t>Removes accumulated bias</a:t>
            </a:r>
          </a:p>
          <a:p>
            <a:pPr lvl="1"/>
            <a:r>
              <a:rPr lang="en-US" dirty="0"/>
              <a:t>Updating helps the model stay aligned with current data patterns instead of old, outdated ones.</a:t>
            </a:r>
          </a:p>
          <a:p>
            <a:r>
              <a:rPr lang="en-US" dirty="0"/>
              <a:t>Prevents "catastrophic forgetting“ — the model overwrites old knowledge.</a:t>
            </a:r>
          </a:p>
          <a:p>
            <a:pPr lvl="1"/>
            <a:r>
              <a:rPr lang="en-US" dirty="0"/>
              <a:t>This is a common problem when you update a model only with </a:t>
            </a:r>
            <a:r>
              <a:rPr lang="en-US" i="1" dirty="0"/>
              <a:t>new</a:t>
            </a:r>
            <a:r>
              <a:rPr lang="en-US" dirty="0"/>
              <a:t> data.</a:t>
            </a:r>
          </a:p>
          <a:p>
            <a:pPr lvl="1"/>
            <a:r>
              <a:rPr lang="en-US" dirty="0"/>
              <a:t>If a model learns from only new data and ignores older data, it slowly </a:t>
            </a:r>
            <a:r>
              <a:rPr lang="en-US" b="1" dirty="0"/>
              <a:t>forgets how to predict older patterns</a:t>
            </a:r>
            <a:r>
              <a:rPr lang="en-US" dirty="0"/>
              <a:t>.</a:t>
            </a:r>
          </a:p>
          <a:p>
            <a:r>
              <a:rPr lang="en-US" dirty="0"/>
              <a:t>This is used when:</a:t>
            </a:r>
          </a:p>
          <a:p>
            <a:r>
              <a:rPr lang="en-US" dirty="0"/>
              <a:t>There is major drift</a:t>
            </a:r>
          </a:p>
          <a:p>
            <a:r>
              <a:rPr lang="en-US" dirty="0"/>
              <a:t>Dataset is not too large</a:t>
            </a:r>
          </a:p>
          <a:p>
            <a:r>
              <a:rPr lang="en-US" dirty="0"/>
              <a:t>Accuracy matters more than speed</a:t>
            </a:r>
          </a:p>
          <a:p>
            <a:r>
              <a:rPr lang="en-US" dirty="0"/>
              <a:t>Your pipeline is stable and reproducible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9805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32BCB-703C-436F-BB3D-AE7F0BB27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4420B-153D-438D-B0FD-FA65A7D88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Model versioning</a:t>
            </a:r>
            <a:r>
              <a:rPr lang="en-US" dirty="0"/>
              <a:t> (v1, v2, v3…)</a:t>
            </a:r>
          </a:p>
          <a:p>
            <a:r>
              <a:rPr lang="en-US" b="1" dirty="0"/>
              <a:t>1. Assigning a unique identity to every model</a:t>
            </a:r>
          </a:p>
          <a:p>
            <a:r>
              <a:rPr lang="en-US" dirty="0"/>
              <a:t>Model versioning means giving each trained model a unique version (like v1, v2, 2025.11.18-rc1).</a:t>
            </a:r>
            <a:br>
              <a:rPr lang="en-US" dirty="0"/>
            </a:br>
            <a:r>
              <a:rPr lang="en-US" dirty="0"/>
              <a:t>Whenever the model is retrained, tuned, or preprocessing changes, you create a new version.</a:t>
            </a:r>
            <a:br>
              <a:rPr lang="en-US" dirty="0"/>
            </a:br>
            <a:r>
              <a:rPr lang="en-US" dirty="0"/>
              <a:t>This makes it easy to track which exact model is running and avoid confusion.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872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3B273-265D-4EDE-9800-04F13EDC5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F6447-DCAD-4337-8D75-F1B15249E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2. Storing full metadata for reproducibility</a:t>
            </a:r>
          </a:p>
          <a:p>
            <a:r>
              <a:rPr lang="en-US" dirty="0"/>
              <a:t>A version isn’t just a name — it also includes:</a:t>
            </a:r>
          </a:p>
          <a:p>
            <a:r>
              <a:rPr lang="en-US" dirty="0"/>
              <a:t>model artifact-the final trained model stored as a file(.h5 (</a:t>
            </a:r>
            <a:r>
              <a:rPr lang="en-US" dirty="0" err="1"/>
              <a:t>Keras</a:t>
            </a:r>
            <a:r>
              <a:rPr lang="en-US" dirty="0"/>
              <a:t>), .</a:t>
            </a:r>
            <a:r>
              <a:rPr lang="en-US" dirty="0" err="1"/>
              <a:t>pt</a:t>
            </a:r>
            <a:r>
              <a:rPr lang="en-US" dirty="0"/>
              <a:t> (</a:t>
            </a:r>
            <a:r>
              <a:rPr lang="en-US" dirty="0" err="1"/>
              <a:t>PyTorch</a:t>
            </a:r>
            <a:r>
              <a:rPr lang="en-US" dirty="0"/>
              <a:t>), .</a:t>
            </a:r>
            <a:r>
              <a:rPr lang="en-US" dirty="0" err="1"/>
              <a:t>pkl</a:t>
            </a:r>
            <a:r>
              <a:rPr lang="en-US" dirty="0"/>
              <a:t> (</a:t>
            </a:r>
            <a:r>
              <a:rPr lang="en-US" dirty="0" err="1"/>
              <a:t>sklearn</a:t>
            </a:r>
            <a:r>
              <a:rPr lang="en-US" dirty="0"/>
              <a:t>), .</a:t>
            </a:r>
            <a:r>
              <a:rPr lang="en-US" dirty="0" err="1"/>
              <a:t>onnx</a:t>
            </a:r>
            <a:r>
              <a:rPr lang="en-US" dirty="0"/>
              <a:t>)</a:t>
            </a:r>
          </a:p>
          <a:p>
            <a:r>
              <a:rPr lang="en-US" dirty="0"/>
              <a:t>dataset fingerprint - a </a:t>
            </a:r>
            <a:r>
              <a:rPr lang="en-US" b="1" dirty="0"/>
              <a:t>unique signature (hash)</a:t>
            </a:r>
            <a:r>
              <a:rPr lang="en-US" dirty="0"/>
              <a:t> that identifies the exact dataset used for training.</a:t>
            </a:r>
          </a:p>
          <a:p>
            <a:r>
              <a:rPr lang="en-US" dirty="0"/>
              <a:t>code commit hash - This is a Git commit ID — a long alphanumeric code that marks the exact version of the training </a:t>
            </a:r>
            <a:r>
              <a:rPr lang="en-US" dirty="0" err="1"/>
              <a:t>code.Example</a:t>
            </a:r>
            <a:r>
              <a:rPr lang="en-US" dirty="0"/>
              <a:t>: abc129f89124fd7b2d0e8341d8fefc3a0f3f1b2a</a:t>
            </a:r>
          </a:p>
          <a:p>
            <a:r>
              <a:rPr lang="en-US" dirty="0"/>
              <a:t>hyperparameters</a:t>
            </a:r>
          </a:p>
          <a:p>
            <a:r>
              <a:rPr lang="en-US" dirty="0"/>
              <a:t>training/validation metrics</a:t>
            </a:r>
          </a:p>
          <a:p>
            <a:r>
              <a:rPr lang="en-US" dirty="0"/>
              <a:t>environment details</a:t>
            </a:r>
          </a:p>
          <a:p>
            <a:r>
              <a:rPr lang="en-US" dirty="0"/>
              <a:t>With this, anyone can fully reproduce or audit how the model was created.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66188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0DB61-DE36-4A0D-9108-61668526B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DE8DC-E6CB-4713-94E1-973214568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3. Supports safe deployment and rollback</a:t>
            </a:r>
          </a:p>
          <a:p>
            <a:r>
              <a:rPr lang="en-US" dirty="0"/>
              <a:t>With versioning, you can:</a:t>
            </a:r>
          </a:p>
          <a:p>
            <a:r>
              <a:rPr lang="en-US" dirty="0"/>
              <a:t>A/B test models</a:t>
            </a:r>
          </a:p>
          <a:p>
            <a:pPr lvl="1"/>
            <a:r>
              <a:rPr lang="en-US" dirty="0"/>
              <a:t>compare new vs. old models</a:t>
            </a:r>
          </a:p>
          <a:p>
            <a:pPr lvl="1"/>
            <a:r>
              <a:rPr lang="en-US" dirty="0"/>
              <a:t>quickly revert to a stable version if the new one performs poorly</a:t>
            </a:r>
            <a:br>
              <a:rPr lang="en-US" dirty="0"/>
            </a:br>
            <a:r>
              <a:rPr lang="en-US" dirty="0"/>
              <a:t>This prevents failures and keeps production reliable.</a:t>
            </a:r>
          </a:p>
          <a:p>
            <a:pPr lvl="1"/>
            <a:r>
              <a:rPr lang="en-US" dirty="0"/>
              <a:t>An A/B test is a real-world experiment that compares two model versions to decide which one performs better in production.</a:t>
            </a:r>
          </a:p>
          <a:p>
            <a:r>
              <a:rPr lang="en-US" b="1" dirty="0"/>
              <a:t>4. Enables governance, auditing, and compliance</a:t>
            </a:r>
          </a:p>
          <a:p>
            <a:r>
              <a:rPr lang="en-US" dirty="0"/>
              <a:t>Versioning lets teams answer questions like:</a:t>
            </a:r>
            <a:br>
              <a:rPr lang="en-US" dirty="0"/>
            </a:br>
            <a:r>
              <a:rPr lang="en-US" dirty="0"/>
              <a:t>“Which model generated this prediction?”</a:t>
            </a:r>
            <a:br>
              <a:rPr lang="en-US" dirty="0"/>
            </a:br>
            <a:r>
              <a:rPr lang="en-US" dirty="0"/>
              <a:t>“What data/code produced this version?”</a:t>
            </a:r>
            <a:br>
              <a:rPr lang="en-US" dirty="0"/>
            </a:br>
            <a:r>
              <a:rPr lang="en-US" dirty="0"/>
              <a:t>This is essential for regulated environments, debugging, and investigations.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2699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85AB7-0393-4EBA-9CFE-1634A5E7D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6EC9B-C2E9-4628-AEE9-46C6A22B5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 Helps manage lifecycle &amp; detect drift</a:t>
            </a:r>
          </a:p>
          <a:p>
            <a:r>
              <a:rPr lang="en-US" dirty="0"/>
              <a:t>Old versions can be archived or deprecated.</a:t>
            </a:r>
            <a:br>
              <a:rPr lang="en-US" dirty="0"/>
            </a:br>
            <a:r>
              <a:rPr lang="en-US" dirty="0"/>
              <a:t>New versions can be retrained when data drifts.</a:t>
            </a:r>
            <a:br>
              <a:rPr lang="en-US" dirty="0"/>
            </a:br>
            <a:r>
              <a:rPr lang="en-US" dirty="0"/>
              <a:t>Production data can be compared with the training dataset tied to each version to detect model decay.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533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2204</Words>
  <Application>Microsoft Office PowerPoint</Application>
  <PresentationFormat>Widescreen</PresentationFormat>
  <Paragraphs>210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MACHINE LEARNING ENGINEERING</vt:lpstr>
      <vt:lpstr>PowerPoint Presentation</vt:lpstr>
      <vt:lpstr>Data Collection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Metrics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Model Building (The Learning Phase)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ENGINEERING</dc:title>
  <dc:creator> </dc:creator>
  <cp:lastModifiedBy> </cp:lastModifiedBy>
  <cp:revision>17</cp:revision>
  <dcterms:created xsi:type="dcterms:W3CDTF">2025-11-18T04:06:35Z</dcterms:created>
  <dcterms:modified xsi:type="dcterms:W3CDTF">2025-11-18T10:02:53Z</dcterms:modified>
</cp:coreProperties>
</file>